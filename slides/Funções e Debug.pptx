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Poppins"/>
      <p:regular r:id="rId17"/>
      <p:bold r:id="rId18"/>
      <p:italic r:id="rId19"/>
      <p:boldItalic r:id="rId20"/>
    </p:embeddedFont>
    <p:embeddedFont>
      <p:font typeface="Poppins Medium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Italic.fntdata"/><Relationship Id="rId11" Type="http://schemas.openxmlformats.org/officeDocument/2006/relationships/slide" Target="slides/slide6.xml"/><Relationship Id="rId22" Type="http://schemas.openxmlformats.org/officeDocument/2006/relationships/font" Target="fonts/PoppinsMedium-bold.fntdata"/><Relationship Id="rId10" Type="http://schemas.openxmlformats.org/officeDocument/2006/relationships/slide" Target="slides/slide5.xml"/><Relationship Id="rId21" Type="http://schemas.openxmlformats.org/officeDocument/2006/relationships/font" Target="fonts/PoppinsMedium-regular.fntdata"/><Relationship Id="rId13" Type="http://schemas.openxmlformats.org/officeDocument/2006/relationships/slide" Target="slides/slide8.xml"/><Relationship Id="rId24" Type="http://schemas.openxmlformats.org/officeDocument/2006/relationships/font" Target="fonts/PoppinsMedium-boldItalic.fntdata"/><Relationship Id="rId12" Type="http://schemas.openxmlformats.org/officeDocument/2006/relationships/slide" Target="slides/slide7.xml"/><Relationship Id="rId23" Type="http://schemas.openxmlformats.org/officeDocument/2006/relationships/font" Target="fonts/PoppinsMedium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oppins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oppins-italic.fntdata"/><Relationship Id="rId6" Type="http://schemas.openxmlformats.org/officeDocument/2006/relationships/slide" Target="slides/slide1.xml"/><Relationship Id="rId18" Type="http://schemas.openxmlformats.org/officeDocument/2006/relationships/font" Target="fonts/Poppi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469bb910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469bb910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d469bb9109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d469bb9109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469bb9109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469bb9109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Caso a variável salario estivesse entre aspas, não seria impresso o valor dela, mas sim apenas seu nome.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Exemplo: print(“mensagem”) =&gt; o que seria impresso seria apenas a palavra mensagem.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4c6984240_1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4c6984240_1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Strings podem ser colocadas tanto entre aspas simples quanto duplas, mas, a que for usada para iniciar, deve ser usada para terminar.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469bb9109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469bb9109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469bb9109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d469bb9109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469bb9109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d469bb9109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469bb9109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d469bb9109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469bb9109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d469bb9109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Erro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Texto, ou string, deve estar envolvido por aspas, sejam simples (‘ ’) ou duplas (“ “). Como o texto Hello World! não está envolvido por aspas, ocorre um erro.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Obs: se uma string iniciar por aspas simples deve terminar por aspas simples. Não é permitido uma string no formato “Hello World!’.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Erro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variável Saudação não está respeitando os critérios para definicição de variáveis, pois incia com número.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Erro 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variável obs está definida após um #, o que demarca um comentário. Dessa forma, é ignorada pelo compilador.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Então não é possível acessar e dar um print em obs pois essa variável não está definida.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Erro 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tipo da variável numero é string, pois isso é padrão para a função input. Logo, não é possível realizar a operação de soma entre uma variável do tipo string com um número, que é 10 nesse exemplo.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ideal é colocar um casting em input ficando na forma int(input()).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Lembrando que o resto do código está correto, é possível separar string de variáveis.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4c6984240_1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d4c6984240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8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200">
                <a:solidFill>
                  <a:srgbClr val="FFFFFF"/>
                </a:solidFill>
              </a:rPr>
              <a:t>Funções internas e Debug</a:t>
            </a:r>
            <a:endParaRPr b="1" sz="5200">
              <a:solidFill>
                <a:srgbClr val="FFFFFF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00FFFF"/>
                </a:solidFill>
              </a:rPr>
              <a:t>Projeto Wanda</a:t>
            </a:r>
            <a:endParaRPr b="1" sz="2800">
              <a:solidFill>
                <a:srgbClr val="00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542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42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Debug</a:t>
            </a:r>
            <a:endParaRPr sz="232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624450"/>
            <a:ext cx="4268700" cy="11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Significa rodar o código passo a passo para encontrar e corrigir um erro.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311700" y="956375"/>
            <a:ext cx="19662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 que é?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63" name="Google Shape;63;p14" title="quero uma imagem que represente procurando um erro no código. quero uma imagem bem simples como uma 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6050" y="1045175"/>
            <a:ext cx="2238026" cy="2238026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2836000"/>
            <a:ext cx="4268700" cy="11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Há funções do próprio Python que usamos para isso.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42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Print</a:t>
            </a:r>
            <a:endParaRPr sz="232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624450"/>
            <a:ext cx="4268700" cy="79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É uma função cujo objetivo é mostrar algo na tela do usuário.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311700" y="956375"/>
            <a:ext cx="19662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 que é?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72" name="Google Shape;72;p15" title="simbolo-de-setas-duplas-para-a-direita-para-avanca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6475" y="2843475"/>
            <a:ext cx="425275" cy="42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 title="notebook_hello_world_ic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5925" y="1612213"/>
            <a:ext cx="2887800" cy="28878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/>
        </p:nvSpPr>
        <p:spPr>
          <a:xfrm>
            <a:off x="205225" y="2800825"/>
            <a:ext cx="31704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print(</a:t>
            </a:r>
            <a:r>
              <a:rPr lang="pt-BR" sz="1900">
                <a:solidFill>
                  <a:srgbClr val="FFCC33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“Hello World!”</a:t>
            </a:r>
            <a:r>
              <a:rPr lang="pt-BR" sz="19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42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Print</a:t>
            </a:r>
            <a:endParaRPr sz="232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624450"/>
            <a:ext cx="4268700" cy="79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É possível utilizar a função print juntamente com variáveis.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311700" y="956375"/>
            <a:ext cx="25806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Continuação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238450" y="2776150"/>
            <a:ext cx="39978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9800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mensagem </a:t>
            </a:r>
            <a:r>
              <a:rPr lang="pt-BR" sz="16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lang="pt-BR" sz="1600">
                <a:solidFill>
                  <a:srgbClr val="FFCC33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“Bem-vindo ao Wanda!"</a:t>
            </a:r>
            <a:br>
              <a:rPr lang="pt-BR" sz="16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pt-BR" sz="16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print(</a:t>
            </a:r>
            <a:r>
              <a:rPr lang="pt-BR" sz="1600">
                <a:solidFill>
                  <a:srgbClr val="9800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mensagem</a:t>
            </a:r>
            <a:r>
              <a:rPr lang="pt-BR" sz="16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600"/>
          </a:p>
        </p:txBody>
      </p:sp>
      <p:pic>
        <p:nvPicPr>
          <p:cNvPr id="83" name="Google Shape;83;p16" title="simbolo-de-setas-duplas-para-a-direita-para-avanca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6600" y="2810375"/>
            <a:ext cx="425275" cy="42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6" title="notebook_wanda_welcome_ic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8150" y="1516138"/>
            <a:ext cx="2887800" cy="288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42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Print</a:t>
            </a:r>
            <a:endParaRPr sz="232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311700" y="1624450"/>
            <a:ext cx="86418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É possível utilizar variáveis e strings ao mesmo tempo na função print.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311700" y="956375"/>
            <a:ext cx="25806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Continuação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340150" y="2292525"/>
            <a:ext cx="52863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CC00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salario </a:t>
            </a:r>
            <a:r>
              <a:rPr lang="pt-BR" sz="18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lang="pt-BR" sz="1800">
                <a:solidFill>
                  <a:srgbClr val="00CC66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100</a:t>
            </a:r>
            <a:br>
              <a:rPr lang="pt-BR" sz="18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pt-BR" sz="1800">
                <a:solidFill>
                  <a:srgbClr val="FF99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print(</a:t>
            </a:r>
            <a:r>
              <a:rPr lang="pt-BR" sz="1800">
                <a:solidFill>
                  <a:srgbClr val="FFCC33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"Meu salário é", </a:t>
            </a:r>
            <a:r>
              <a:rPr lang="pt-BR" sz="1800">
                <a:solidFill>
                  <a:srgbClr val="CC00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salario</a:t>
            </a:r>
            <a:r>
              <a:rPr lang="pt-BR" sz="1800">
                <a:solidFill>
                  <a:srgbClr val="FFCC33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, 'Reais'</a:t>
            </a:r>
            <a:r>
              <a:rPr lang="pt-BR" sz="1800">
                <a:solidFill>
                  <a:srgbClr val="FF99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pt-BR" sz="1800">
                <a:solidFill>
                  <a:srgbClr val="FFCC33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2100"/>
          </a:p>
        </p:txBody>
      </p:sp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340150" y="3226000"/>
            <a:ext cx="66117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Variáveis devem ser separadas de strings por vírgulas.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311700" y="445025"/>
            <a:ext cx="542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42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Comentários</a:t>
            </a:r>
            <a:endParaRPr sz="232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311700" y="1624450"/>
            <a:ext cx="4268700" cy="11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Servem para adicionar informações no código que não serão processadas.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0" name="Google Shape;100;p18"/>
          <p:cNvSpPr txBox="1"/>
          <p:nvPr/>
        </p:nvSpPr>
        <p:spPr>
          <a:xfrm>
            <a:off x="311700" y="956375"/>
            <a:ext cx="19662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 que são?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311700" y="2836000"/>
            <a:ext cx="4401000" cy="8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É usado para melhor descrição do código e é representado por um “#”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350850" y="3867125"/>
            <a:ext cx="4322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nome = </a:t>
            </a:r>
            <a:r>
              <a:rPr lang="pt-BR" sz="1600">
                <a:solidFill>
                  <a:srgbClr val="FFCC33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"Wanda"</a:t>
            </a:r>
            <a:r>
              <a:rPr lang="pt-BR" sz="16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600">
                <a:solidFill>
                  <a:srgbClr val="444444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# Variável para Wanda</a:t>
            </a:r>
            <a:endParaRPr sz="1700"/>
          </a:p>
        </p:txBody>
      </p:sp>
      <p:pic>
        <p:nvPicPr>
          <p:cNvPr id="103" name="Google Shape;103;p18" title="python_comment_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7775" y="1363600"/>
            <a:ext cx="2100101" cy="2100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311700" y="445025"/>
            <a:ext cx="542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42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Casting</a:t>
            </a:r>
            <a:endParaRPr sz="232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9" name="Google Shape;109;p19"/>
          <p:cNvSpPr txBox="1"/>
          <p:nvPr>
            <p:ph idx="1" type="body"/>
          </p:nvPr>
        </p:nvSpPr>
        <p:spPr>
          <a:xfrm>
            <a:off x="311700" y="1624450"/>
            <a:ext cx="8008800" cy="54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Serve para transformar tipos de dados em outros.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0" name="Google Shape;110;p19"/>
          <p:cNvSpPr txBox="1"/>
          <p:nvPr/>
        </p:nvSpPr>
        <p:spPr>
          <a:xfrm>
            <a:off x="311700" y="956375"/>
            <a:ext cx="19662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 que é?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11" name="Google Shape;111;p19"/>
          <p:cNvSpPr txBox="1"/>
          <p:nvPr>
            <p:ph idx="1" type="body"/>
          </p:nvPr>
        </p:nvSpPr>
        <p:spPr>
          <a:xfrm>
            <a:off x="735360" y="2286575"/>
            <a:ext cx="11211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500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str()</a:t>
            </a:r>
            <a:endParaRPr sz="2500">
              <a:solidFill>
                <a:srgbClr val="00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2" name="Google Shape;112;p19"/>
          <p:cNvSpPr txBox="1"/>
          <p:nvPr>
            <p:ph idx="1" type="body"/>
          </p:nvPr>
        </p:nvSpPr>
        <p:spPr>
          <a:xfrm>
            <a:off x="3501575" y="2286575"/>
            <a:ext cx="11211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500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int</a:t>
            </a:r>
            <a:r>
              <a:rPr lang="pt-BR" sz="2500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()</a:t>
            </a:r>
            <a:endParaRPr sz="2500">
              <a:solidFill>
                <a:srgbClr val="00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3" name="Google Shape;113;p19"/>
          <p:cNvSpPr txBox="1"/>
          <p:nvPr>
            <p:ph idx="1" type="body"/>
          </p:nvPr>
        </p:nvSpPr>
        <p:spPr>
          <a:xfrm>
            <a:off x="6312500" y="2286575"/>
            <a:ext cx="1405500" cy="83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500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float</a:t>
            </a:r>
            <a:r>
              <a:rPr lang="pt-BR" sz="2500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()</a:t>
            </a:r>
            <a:endParaRPr sz="2500">
              <a:solidFill>
                <a:srgbClr val="00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4" name="Google Shape;114;p19"/>
          <p:cNvSpPr txBox="1"/>
          <p:nvPr/>
        </p:nvSpPr>
        <p:spPr>
          <a:xfrm>
            <a:off x="3072000" y="3019025"/>
            <a:ext cx="30000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teste = </a:t>
            </a:r>
            <a:r>
              <a:rPr lang="pt-BR" sz="1600">
                <a:solidFill>
                  <a:srgbClr val="FFCC33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"11"</a:t>
            </a:r>
            <a:br>
              <a:rPr lang="pt-BR" sz="16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pt-BR" sz="16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num_teste = int(teste)</a:t>
            </a:r>
            <a:endParaRPr sz="1600">
              <a:solidFill>
                <a:srgbClr val="AAAAAA"/>
              </a:solidFill>
              <a:highlight>
                <a:srgbClr val="222222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5" name="Google Shape;115;p19"/>
          <p:cNvSpPr txBox="1"/>
          <p:nvPr/>
        </p:nvSpPr>
        <p:spPr>
          <a:xfrm>
            <a:off x="179300" y="3019025"/>
            <a:ext cx="30000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teste = </a:t>
            </a:r>
            <a:r>
              <a:rPr lang="pt-BR" sz="1600">
                <a:solidFill>
                  <a:srgbClr val="FFCC33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11</a:t>
            </a:r>
            <a:br>
              <a:rPr lang="pt-BR" sz="16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pt-BR" sz="16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str_teste = str(teste)</a:t>
            </a:r>
            <a:endParaRPr sz="1700"/>
          </a:p>
        </p:txBody>
      </p:sp>
      <p:sp>
        <p:nvSpPr>
          <p:cNvPr id="116" name="Google Shape;116;p19"/>
          <p:cNvSpPr txBox="1"/>
          <p:nvPr/>
        </p:nvSpPr>
        <p:spPr>
          <a:xfrm>
            <a:off x="5977151" y="3019025"/>
            <a:ext cx="31401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teste = “</a:t>
            </a:r>
            <a:r>
              <a:rPr lang="pt-BR" sz="1600">
                <a:solidFill>
                  <a:srgbClr val="FFCC33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11.22”</a:t>
            </a:r>
            <a:br>
              <a:rPr lang="pt-BR" sz="16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pt-BR" sz="16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float_teste = float(teste)</a:t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42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Mas surge uma dúvida 🤔</a:t>
            </a:r>
            <a:endParaRPr sz="232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2" name="Google Shape;122;p20"/>
          <p:cNvSpPr txBox="1"/>
          <p:nvPr>
            <p:ph idx="1" type="body"/>
          </p:nvPr>
        </p:nvSpPr>
        <p:spPr>
          <a:xfrm>
            <a:off x="311700" y="1624450"/>
            <a:ext cx="42687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Função input</a:t>
            </a:r>
            <a:endParaRPr sz="2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3" name="Google Shape;123;p20"/>
          <p:cNvSpPr txBox="1"/>
          <p:nvPr/>
        </p:nvSpPr>
        <p:spPr>
          <a:xfrm>
            <a:off x="311700" y="956375"/>
            <a:ext cx="68040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Como fazer para receber dados do usuário?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24" name="Google Shape;124;p20"/>
          <p:cNvSpPr txBox="1"/>
          <p:nvPr>
            <p:ph idx="1" type="body"/>
          </p:nvPr>
        </p:nvSpPr>
        <p:spPr>
          <a:xfrm>
            <a:off x="311700" y="2147800"/>
            <a:ext cx="4586400" cy="7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Recebe uma informação e armazena em uma variável.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5" name="Google Shape;125;p20"/>
          <p:cNvSpPr txBox="1"/>
          <p:nvPr/>
        </p:nvSpPr>
        <p:spPr>
          <a:xfrm>
            <a:off x="311700" y="3065200"/>
            <a:ext cx="454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nome = input(</a:t>
            </a:r>
            <a:r>
              <a:rPr lang="pt-BR" sz="1800">
                <a:solidFill>
                  <a:srgbClr val="FFCC33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"Digite seu nome: "</a:t>
            </a:r>
            <a:r>
              <a:rPr lang="pt-BR" sz="18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900"/>
          </a:p>
        </p:txBody>
      </p:sp>
      <p:pic>
        <p:nvPicPr>
          <p:cNvPr id="126" name="Google Shape;126;p20" title="input_variable_name_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6575" y="1591475"/>
            <a:ext cx="2863549" cy="2863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42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Input continuação</a:t>
            </a:r>
            <a:endParaRPr sz="232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2" name="Google Shape;132;p21"/>
          <p:cNvSpPr txBox="1"/>
          <p:nvPr/>
        </p:nvSpPr>
        <p:spPr>
          <a:xfrm>
            <a:off x="311700" y="956375"/>
            <a:ext cx="23952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Observação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33" name="Google Shape;133;p21"/>
          <p:cNvSpPr txBox="1"/>
          <p:nvPr>
            <p:ph idx="1" type="body"/>
          </p:nvPr>
        </p:nvSpPr>
        <p:spPr>
          <a:xfrm>
            <a:off x="247575" y="1439075"/>
            <a:ext cx="3300300" cy="7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Por padrão, a variável com input é do tipo string.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4" name="Google Shape;134;p21"/>
          <p:cNvSpPr txBox="1"/>
          <p:nvPr>
            <p:ph idx="1" type="body"/>
          </p:nvPr>
        </p:nvSpPr>
        <p:spPr>
          <a:xfrm>
            <a:off x="4147175" y="1439081"/>
            <a:ext cx="4586400" cy="10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Assim, é importante fazer um casting com input se deseja um tipo diferente de string.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5" name="Google Shape;135;p21"/>
          <p:cNvSpPr txBox="1"/>
          <p:nvPr/>
        </p:nvSpPr>
        <p:spPr>
          <a:xfrm>
            <a:off x="190875" y="3080375"/>
            <a:ext cx="341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rgbClr val="00FF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idade </a:t>
            </a:r>
            <a:r>
              <a:rPr lang="pt-BR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= input(</a:t>
            </a:r>
            <a:r>
              <a:rPr lang="pt-BR">
                <a:solidFill>
                  <a:srgbClr val="FFCC33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"Qual sua idade?"</a:t>
            </a:r>
            <a:r>
              <a:rPr lang="pt-BR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700"/>
          </a:p>
        </p:txBody>
      </p:sp>
      <p:sp>
        <p:nvSpPr>
          <p:cNvPr id="136" name="Google Shape;136;p21"/>
          <p:cNvSpPr txBox="1"/>
          <p:nvPr/>
        </p:nvSpPr>
        <p:spPr>
          <a:xfrm>
            <a:off x="4724475" y="3080375"/>
            <a:ext cx="413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0FF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idade </a:t>
            </a:r>
            <a:r>
              <a:rPr lang="pt-BR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= int(input(</a:t>
            </a:r>
            <a:r>
              <a:rPr lang="pt-BR">
                <a:solidFill>
                  <a:srgbClr val="FFCC33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"Qual sua idade?"</a:t>
            </a:r>
            <a:r>
              <a:rPr lang="pt-BR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700"/>
          </a:p>
        </p:txBody>
      </p:sp>
      <p:pic>
        <p:nvPicPr>
          <p:cNvPr id="137" name="Google Shape;137;p21" title="not-equa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1900" y="2965038"/>
            <a:ext cx="605038" cy="60503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1"/>
          <p:cNvSpPr txBox="1"/>
          <p:nvPr>
            <p:ph idx="1" type="body"/>
          </p:nvPr>
        </p:nvSpPr>
        <p:spPr>
          <a:xfrm>
            <a:off x="382950" y="3693050"/>
            <a:ext cx="2580600" cy="8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 idade é do tipo string.</a:t>
            </a:r>
            <a:endParaRPr sz="16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Ex: “15”</a:t>
            </a:r>
            <a:endParaRPr sz="16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9" name="Google Shape;139;p21"/>
          <p:cNvSpPr txBox="1"/>
          <p:nvPr>
            <p:ph idx="1" type="body"/>
          </p:nvPr>
        </p:nvSpPr>
        <p:spPr>
          <a:xfrm>
            <a:off x="4902325" y="3745725"/>
            <a:ext cx="3097800" cy="8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 idade é do tipo inteiro.</a:t>
            </a:r>
            <a:endParaRPr sz="16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Ex: 15</a:t>
            </a:r>
            <a:endParaRPr sz="16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</a:rPr>
              <a:t>Identifique os erros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5" name="Google Shape;145;p22"/>
          <p:cNvSpPr txBox="1"/>
          <p:nvPr>
            <p:ph idx="1" type="body"/>
          </p:nvPr>
        </p:nvSpPr>
        <p:spPr>
          <a:xfrm>
            <a:off x="162100" y="1159600"/>
            <a:ext cx="2281500" cy="4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</a:pPr>
            <a:r>
              <a:rPr lang="pt-BR" sz="2200">
                <a:solidFill>
                  <a:schemeClr val="lt1"/>
                </a:solidFill>
              </a:rPr>
              <a:t>Erro 1</a:t>
            </a:r>
            <a:endParaRPr sz="2200">
              <a:solidFill>
                <a:schemeClr val="lt1"/>
              </a:solidFill>
            </a:endParaRPr>
          </a:p>
        </p:txBody>
      </p:sp>
      <p:sp>
        <p:nvSpPr>
          <p:cNvPr id="146" name="Google Shape;146;p22"/>
          <p:cNvSpPr txBox="1"/>
          <p:nvPr/>
        </p:nvSpPr>
        <p:spPr>
          <a:xfrm>
            <a:off x="247575" y="1688375"/>
            <a:ext cx="284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FF99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pt-BR" sz="18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800">
                <a:solidFill>
                  <a:srgbClr val="FFFF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Hello World!</a:t>
            </a:r>
            <a:r>
              <a:rPr lang="pt-BR" sz="18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147" name="Google Shape;147;p22"/>
          <p:cNvSpPr txBox="1"/>
          <p:nvPr>
            <p:ph idx="1" type="body"/>
          </p:nvPr>
        </p:nvSpPr>
        <p:spPr>
          <a:xfrm>
            <a:off x="247575" y="2373475"/>
            <a:ext cx="2281500" cy="4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</a:pPr>
            <a:r>
              <a:rPr lang="pt-BR" sz="2200">
                <a:solidFill>
                  <a:schemeClr val="lt1"/>
                </a:solidFill>
              </a:rPr>
              <a:t>Erro 2</a:t>
            </a:r>
            <a:endParaRPr sz="2200">
              <a:solidFill>
                <a:schemeClr val="lt1"/>
              </a:solidFill>
            </a:endParaRPr>
          </a:p>
        </p:txBody>
      </p:sp>
      <p:sp>
        <p:nvSpPr>
          <p:cNvPr id="148" name="Google Shape;148;p22"/>
          <p:cNvSpPr txBox="1"/>
          <p:nvPr/>
        </p:nvSpPr>
        <p:spPr>
          <a:xfrm>
            <a:off x="311700" y="2895450"/>
            <a:ext cx="29580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9900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1saudacao </a:t>
            </a:r>
            <a:r>
              <a:rPr lang="pt-BR" sz="1800">
                <a:solidFill>
                  <a:schemeClr val="dk2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lang="pt-BR" sz="1800">
                <a:solidFill>
                  <a:srgbClr val="FFFF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“Bom dia!”</a:t>
            </a:r>
            <a:endParaRPr sz="1800">
              <a:solidFill>
                <a:srgbClr val="FFFF00"/>
              </a:solidFill>
              <a:highlight>
                <a:srgbClr val="22222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F99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pt-BR" sz="18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800">
                <a:solidFill>
                  <a:srgbClr val="9900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1s</a:t>
            </a:r>
            <a:r>
              <a:rPr lang="pt-BR" sz="1800">
                <a:solidFill>
                  <a:srgbClr val="9900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audacao</a:t>
            </a:r>
            <a:r>
              <a:rPr lang="pt-BR" sz="18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149" name="Google Shape;149;p22"/>
          <p:cNvSpPr txBox="1"/>
          <p:nvPr>
            <p:ph idx="1" type="body"/>
          </p:nvPr>
        </p:nvSpPr>
        <p:spPr>
          <a:xfrm>
            <a:off x="4029125" y="1209575"/>
            <a:ext cx="2281500" cy="4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</a:pPr>
            <a:r>
              <a:rPr lang="pt-BR" sz="2200">
                <a:solidFill>
                  <a:schemeClr val="lt1"/>
                </a:solidFill>
              </a:rPr>
              <a:t>Erro 3</a:t>
            </a:r>
            <a:endParaRPr sz="2200">
              <a:solidFill>
                <a:schemeClr val="lt1"/>
              </a:solidFill>
            </a:endParaRPr>
          </a:p>
        </p:txBody>
      </p:sp>
      <p:sp>
        <p:nvSpPr>
          <p:cNvPr id="150" name="Google Shape;150;p22"/>
          <p:cNvSpPr txBox="1"/>
          <p:nvPr/>
        </p:nvSpPr>
        <p:spPr>
          <a:xfrm>
            <a:off x="4029125" y="1688375"/>
            <a:ext cx="28440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3D85C6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# </a:t>
            </a:r>
            <a:r>
              <a:rPr lang="pt-BR" sz="1800">
                <a:solidFill>
                  <a:srgbClr val="9900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obs </a:t>
            </a:r>
            <a:r>
              <a:rPr lang="pt-BR" sz="1800">
                <a:solidFill>
                  <a:schemeClr val="dk2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lang="pt-BR" sz="1800">
                <a:solidFill>
                  <a:srgbClr val="FFFF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“Amo gatos”</a:t>
            </a:r>
            <a:r>
              <a:rPr lang="pt-BR" sz="1800">
                <a:solidFill>
                  <a:srgbClr val="FF99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800">
              <a:solidFill>
                <a:srgbClr val="FF9900"/>
              </a:solidFill>
              <a:highlight>
                <a:srgbClr val="22222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F99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pt-BR" sz="18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800">
                <a:solidFill>
                  <a:srgbClr val="9900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obs</a:t>
            </a:r>
            <a:r>
              <a:rPr lang="pt-BR" sz="18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151" name="Google Shape;151;p22"/>
          <p:cNvSpPr txBox="1"/>
          <p:nvPr>
            <p:ph idx="1" type="body"/>
          </p:nvPr>
        </p:nvSpPr>
        <p:spPr>
          <a:xfrm>
            <a:off x="4029125" y="2571750"/>
            <a:ext cx="2281500" cy="4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</a:pPr>
            <a:r>
              <a:rPr lang="pt-BR" sz="2200">
                <a:solidFill>
                  <a:schemeClr val="lt1"/>
                </a:solidFill>
              </a:rPr>
              <a:t>Erro 4</a:t>
            </a:r>
            <a:endParaRPr sz="2200">
              <a:solidFill>
                <a:schemeClr val="lt1"/>
              </a:solidFill>
            </a:endParaRPr>
          </a:p>
        </p:txBody>
      </p:sp>
      <p:sp>
        <p:nvSpPr>
          <p:cNvPr id="152" name="Google Shape;152;p22"/>
          <p:cNvSpPr txBox="1"/>
          <p:nvPr/>
        </p:nvSpPr>
        <p:spPr>
          <a:xfrm>
            <a:off x="4029125" y="3091425"/>
            <a:ext cx="45843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FF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numero </a:t>
            </a:r>
            <a:r>
              <a:rPr lang="pt-BR" sz="1800">
                <a:solidFill>
                  <a:srgbClr val="666666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lang="pt-BR" sz="1800">
                <a:solidFill>
                  <a:srgbClr val="FF99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input()</a:t>
            </a:r>
            <a:endParaRPr sz="1800">
              <a:solidFill>
                <a:srgbClr val="FF9900"/>
              </a:solidFill>
              <a:highlight>
                <a:srgbClr val="22222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F99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pt-BR" sz="18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800">
                <a:solidFill>
                  <a:srgbClr val="FFFF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“Numero + 10 = ”</a:t>
            </a:r>
            <a:r>
              <a:rPr lang="pt-BR" sz="18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pt-BR" sz="1800">
                <a:solidFill>
                  <a:srgbClr val="00FF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idade </a:t>
            </a:r>
            <a:r>
              <a:rPr lang="pt-BR" sz="18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+ </a:t>
            </a:r>
            <a:r>
              <a:rPr lang="pt-BR" sz="1800">
                <a:solidFill>
                  <a:srgbClr val="FFFF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pt-BR" sz="18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5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/>
        </p:nvSpPr>
        <p:spPr>
          <a:xfrm>
            <a:off x="1889700" y="1626900"/>
            <a:ext cx="5364600" cy="18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Obrigado pela atenção!</a:t>
            </a:r>
            <a:endParaRPr b="1" sz="3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8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Bons estudos!</a:t>
            </a:r>
            <a:endParaRPr sz="38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