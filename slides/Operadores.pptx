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Poppins Medium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Medium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Medium-italic.fntdata"/><Relationship Id="rId25" Type="http://schemas.openxmlformats.org/officeDocument/2006/relationships/font" Target="fonts/PoppinsMedium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Poppi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5005226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5005226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f30a1b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6f30a1b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operadores de adição e subtração funcionam iguais a como na matemática.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operadores de multiplicação e divisão funcionam iguais a como na matemática e seguem questões de precedência. Ex: 4 + 18 / 3 =&gt;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Divisão real resulta em valor com casas decimais. Ex: 10 / 4 =&gt; 2.5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Divisão inteira resulta apenas a parte inteira da divisão. Ex: 10 // 4 =&gt;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Exemplos de resto da divisão: 23 % 5 =&gt; 3     20 % 2 =&gt; 0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70aa52ca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70aa52ca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70aa52caf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70aa52caf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Considere para os dois exemplos o seguinte exemplo: “João quer dividir 15 brigadeiros para seus 4 amigos. Quantas brigadeiros cada amigo receberá e quantas sobrarão?”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Considere que não tem como ele partir os brigadeiros pela metade. João só consegue dar uma quantidade inteira de brigadeiros para cada amigo, então não é necessário saber as partes fracionárias/decimais da divisão. Acontece o mesmo para saber o que sobra, não é preciso conhecer a parte inteira, só o resto da divisão.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50052264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50052264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Operadores comparativo retornam valores booleanos, apenas True ou False.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50052264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50052264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operadores funcionam da mesma forma que na matemática.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0052264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50052264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500522647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500522647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50052264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50052264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5138502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5138502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51385025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51385025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70aa52ca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70aa52ca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50052264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50052264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70aa52ca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70aa52ca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Projeto Wanda</a:t>
            </a:r>
            <a:endParaRPr b="1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Operadores algébricos</a:t>
            </a:r>
            <a:endParaRPr sz="232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92075"/>
            <a:ext cx="55458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utilizados para fazer contas </a:t>
            </a: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algébricas</a:t>
            </a: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63" name="Google Shape;63;p14"/>
          <p:cNvGrpSpPr/>
          <p:nvPr/>
        </p:nvGrpSpPr>
        <p:grpSpPr>
          <a:xfrm>
            <a:off x="1719513" y="1806115"/>
            <a:ext cx="5704975" cy="1361043"/>
            <a:chOff x="1792100" y="1700315"/>
            <a:chExt cx="5704975" cy="1361043"/>
          </a:xfrm>
        </p:grpSpPr>
        <p:sp>
          <p:nvSpPr>
            <p:cNvPr id="64" name="Google Shape;64;p14"/>
            <p:cNvSpPr txBox="1"/>
            <p:nvPr/>
          </p:nvSpPr>
          <p:spPr>
            <a:xfrm>
              <a:off x="2224550" y="1700325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5671">
                  <a:solidFill>
                    <a:srgbClr val="FFFFFF"/>
                  </a:solidFill>
                </a:rPr>
                <a:t>+</a:t>
              </a:r>
              <a:endParaRPr b="1" sz="5671">
                <a:solidFill>
                  <a:srgbClr val="FFFFFF"/>
                </a:solidFill>
              </a:endParaRPr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4304575" y="1700315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5871">
                  <a:solidFill>
                    <a:srgbClr val="FFFFFF"/>
                  </a:solidFill>
                </a:rPr>
                <a:t>-</a:t>
              </a:r>
              <a:endParaRPr b="1" sz="5871">
                <a:solidFill>
                  <a:srgbClr val="FFFFFF"/>
                </a:solidFill>
              </a:endParaRPr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6336975" y="1850216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143">
                  <a:solidFill>
                    <a:srgbClr val="FFFFFF"/>
                  </a:solidFill>
                </a:rPr>
                <a:t>*</a:t>
              </a:r>
              <a:endParaRPr b="1" sz="7143">
                <a:solidFill>
                  <a:srgbClr val="FFFFFF"/>
                </a:solidFill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1792100" y="2594558"/>
              <a:ext cx="1466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Adição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3872125" y="2594550"/>
              <a:ext cx="1466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Subtração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5778675" y="2594550"/>
              <a:ext cx="17184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Multiplicação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1719513" y="3204395"/>
            <a:ext cx="5632375" cy="1361045"/>
            <a:chOff x="1792100" y="3098595"/>
            <a:chExt cx="5632375" cy="1361045"/>
          </a:xfrm>
        </p:grpSpPr>
        <p:sp>
          <p:nvSpPr>
            <p:cNvPr id="71" name="Google Shape;71;p14"/>
            <p:cNvSpPr txBox="1"/>
            <p:nvPr/>
          </p:nvSpPr>
          <p:spPr>
            <a:xfrm>
              <a:off x="2224550" y="3098607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4501">
                  <a:solidFill>
                    <a:srgbClr val="FFFFFF"/>
                  </a:solidFill>
                </a:rPr>
                <a:t> /</a:t>
              </a:r>
              <a:endParaRPr b="1" sz="4501">
                <a:solidFill>
                  <a:srgbClr val="FFFFFF"/>
                </a:solidFill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4304575" y="3113772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4501">
                  <a:solidFill>
                    <a:srgbClr val="FFFFFF"/>
                  </a:solidFill>
                </a:rPr>
                <a:t>//</a:t>
              </a:r>
              <a:endParaRPr b="1" sz="4501">
                <a:solidFill>
                  <a:srgbClr val="FFFFFF"/>
                </a:solidFill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1792100" y="3992840"/>
              <a:ext cx="1466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Divisão Real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3958825" y="3992840"/>
              <a:ext cx="12933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Divisão Inteira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5851275" y="3992840"/>
              <a:ext cx="15732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Resto da Divisão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6336975" y="3098595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4501">
                  <a:solidFill>
                    <a:srgbClr val="FFFFFF"/>
                  </a:solidFill>
                </a:rPr>
                <a:t>%</a:t>
              </a:r>
              <a:endParaRPr b="1" sz="4501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/>
        </p:nvSpPr>
        <p:spPr>
          <a:xfrm>
            <a:off x="403400" y="364450"/>
            <a:ext cx="473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03400" y="849106"/>
            <a:ext cx="1499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Adição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718150" y="849106"/>
            <a:ext cx="1907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Subtração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03400" y="2791425"/>
            <a:ext cx="239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Multiplicação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718150" y="2791425"/>
            <a:ext cx="258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Divisão Real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786650" y="1290800"/>
            <a:ext cx="28074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nota1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nota2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soma = nota1 + nota2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saida 16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238400" y="1290800"/>
            <a:ext cx="32478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preco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120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desconto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total = preco - desconto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saida 90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786650" y="3268425"/>
            <a:ext cx="3502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valor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50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quantidade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total = valor * quantidade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saida 500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5238400" y="3268425"/>
            <a:ext cx="3502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soma_notas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media = soma /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saida 7.66666666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/>
        </p:nvSpPr>
        <p:spPr>
          <a:xfrm>
            <a:off x="591697" y="3466937"/>
            <a:ext cx="2418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-318535" lvl="0" marL="42471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2"/>
              <a:buFont typeface="Poppins"/>
              <a:buChar char="●"/>
            </a:pPr>
            <a:r>
              <a:rPr b="1" lang="pt-BR" sz="16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Resto da Divisão</a:t>
            </a:r>
            <a:endParaRPr b="1" sz="167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591697" y="1988783"/>
            <a:ext cx="2367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-318535" lvl="0" marL="42471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2"/>
              <a:buFont typeface="Poppins"/>
              <a:buChar char="●"/>
            </a:pPr>
            <a:r>
              <a:rPr b="1" lang="pt-BR" sz="16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Divisão Inteira</a:t>
            </a:r>
            <a:endParaRPr b="1" sz="167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223488" y="4336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91697" y="2431899"/>
            <a:ext cx="4456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CCCCC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qntd de balas para cada amigo</a:t>
            </a:r>
            <a:endParaRPr sz="1672">
              <a:solidFill>
                <a:srgbClr val="CCCCC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balas_amigos = brigadeiros // amigos</a:t>
            </a:r>
            <a:endParaRPr sz="1672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saida 3</a:t>
            </a:r>
            <a:endParaRPr sz="1672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91697" y="3910053"/>
            <a:ext cx="36450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qntd de balas que sobram</a:t>
            </a:r>
            <a:endParaRPr sz="1672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sobras = brigadeiros % amigos</a:t>
            </a:r>
            <a:endParaRPr sz="1672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saida 3</a:t>
            </a:r>
            <a:endParaRPr sz="1672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91697" y="1230338"/>
            <a:ext cx="2787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brigadeiros = </a:t>
            </a:r>
            <a:r>
              <a:rPr lang="pt-BR" sz="1672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72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amigos = </a:t>
            </a:r>
            <a:r>
              <a:rPr lang="pt-BR" sz="1672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672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867517" y="433691"/>
            <a:ext cx="7053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João quer dividir 15 brigadeiros para seus 4 amigos. 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Quantas balas cada amigo receberá e quantas sobrarão?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p16" title="menino pensando em dividir bomboms com seus amigo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49" y="1494825"/>
            <a:ext cx="2222351" cy="244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comparativos 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311700" y="1492075"/>
            <a:ext cx="3732300" cy="8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utilizados para verificar condições no código.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283675" y="1492075"/>
            <a:ext cx="3732300" cy="8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Possuem apenas dois valores: verdadeiro ou falso.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0" name="Google Shape;110;p17" title="daytime_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400" y="2447650"/>
            <a:ext cx="1338650" cy="13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 title="cod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650" y="2447661"/>
            <a:ext cx="1037225" cy="10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1872950" y="2511650"/>
            <a:ext cx="19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Estamos de dia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3" name="Google Shape;113;p17" title="righ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2362800" y="2927050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2058300" y="3553000"/>
            <a:ext cx="133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Verdade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2000">
              <a:solidFill>
                <a:srgbClr val="00FFFF"/>
              </a:solidFill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944200" y="2447650"/>
            <a:ext cx="229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Programar é chato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6" name="Google Shape;116;p17" title="righ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6434050" y="2863050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6314900" y="3449300"/>
            <a:ext cx="133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Falso</a:t>
            </a:r>
            <a:br>
              <a:rPr lang="pt-BR" sz="20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20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2000">
              <a:solidFill>
                <a:srgbClr val="00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para comparações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311700" y="1492075"/>
            <a:ext cx="7320300" cy="5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bem parecidos com os usados na matemática.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25" name="Google Shape;125;p18" title="is-greater-than-mathematical-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00" y="2518775"/>
            <a:ext cx="932475" cy="93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equal-to-or-greater-than-symb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4063" y="2001924"/>
            <a:ext cx="1966200" cy="19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equal-to-or-greater-than-symbol.png"/>
          <p:cNvPicPr preferRelativeResize="0"/>
          <p:nvPr/>
        </p:nvPicPr>
        <p:blipFill rotWithShape="1">
          <a:blip r:embed="rId4">
            <a:alphaModFix/>
          </a:blip>
          <a:srcRect b="16763" l="0" r="0" t="16610"/>
          <a:stretch/>
        </p:blipFill>
        <p:spPr>
          <a:xfrm rot="10800000">
            <a:off x="6502725" y="2321750"/>
            <a:ext cx="2076525" cy="138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is-greater-than-mathematical-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391750" y="2478225"/>
            <a:ext cx="1067400" cy="10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384600" y="3771450"/>
            <a:ext cx="1448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</a:rPr>
              <a:t>Maior que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2201100" y="3771450"/>
            <a:ext cx="1448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</a:rPr>
              <a:t>Menor que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4270700" y="3771450"/>
            <a:ext cx="2232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</a:rPr>
              <a:t>Maior ou igual que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6653950" y="3771450"/>
            <a:ext cx="2370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</a:rPr>
              <a:t>Menor </a:t>
            </a:r>
            <a:r>
              <a:rPr lang="pt-BR" sz="1900">
                <a:solidFill>
                  <a:schemeClr val="lt1"/>
                </a:solidFill>
              </a:rPr>
              <a:t>ou igual que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para comparações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2194175" y="2821207"/>
            <a:ext cx="6896100" cy="5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símbolo “=” é usado para atribuição em variáveis.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311700" y="956375"/>
            <a:ext cx="2262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598749" y="2394398"/>
            <a:ext cx="999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6">
                <a:solidFill>
                  <a:schemeClr val="lt1"/>
                </a:solidFill>
              </a:rPr>
              <a:t>Igual</a:t>
            </a:r>
            <a:endParaRPr sz="2106">
              <a:solidFill>
                <a:schemeClr val="lt1"/>
              </a:solidFill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422351" y="4131240"/>
            <a:ext cx="13194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6">
                <a:solidFill>
                  <a:schemeClr val="lt1"/>
                </a:solidFill>
              </a:rPr>
              <a:t>Diferente</a:t>
            </a:r>
            <a:endParaRPr sz="2106">
              <a:solidFill>
                <a:schemeClr val="lt1"/>
              </a:solidFill>
            </a:endParaRPr>
          </a:p>
        </p:txBody>
      </p:sp>
      <p:pic>
        <p:nvPicPr>
          <p:cNvPr id="142" name="Google Shape;142;p19" title="white_inequality_operator_icon.png"/>
          <p:cNvPicPr preferRelativeResize="0"/>
          <p:nvPr/>
        </p:nvPicPr>
        <p:blipFill rotWithShape="1">
          <a:blip r:embed="rId3">
            <a:alphaModFix/>
          </a:blip>
          <a:srcRect b="20888" l="19693" r="13189" t="15832"/>
          <a:stretch/>
        </p:blipFill>
        <p:spPr>
          <a:xfrm>
            <a:off x="256925" y="3064093"/>
            <a:ext cx="1650094" cy="1262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 title="white_equality_operator_icon.png"/>
          <p:cNvPicPr preferRelativeResize="0"/>
          <p:nvPr/>
        </p:nvPicPr>
        <p:blipFill rotWithShape="1">
          <a:blip r:embed="rId4">
            <a:alphaModFix/>
          </a:blip>
          <a:srcRect b="28899" l="12138" r="7476" t="20867"/>
          <a:stretch/>
        </p:blipFill>
        <p:spPr>
          <a:xfrm>
            <a:off x="317643" y="1439075"/>
            <a:ext cx="1528658" cy="955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 title="dang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3325" y="1830557"/>
            <a:ext cx="766125" cy="76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4822925" y="1981575"/>
            <a:ext cx="2493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</a:rPr>
              <a:t>OBSERVAÇÃO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2194175" y="3341107"/>
            <a:ext cx="6896100" cy="5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símbolo “==” é usado para comparações.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para comparações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11700" y="956375"/>
            <a:ext cx="2262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Exemplos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 flipH="1">
            <a:off x="363421" y="1362013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-445807" lvl="0" marL="57318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7"/>
              <a:buChar char="●"/>
            </a:pPr>
            <a:r>
              <a:rPr lang="pt-BR" sz="2507">
                <a:solidFill>
                  <a:schemeClr val="lt1"/>
                </a:solidFill>
              </a:rPr>
              <a:t>Ex 1</a:t>
            </a:r>
            <a:endParaRPr sz="2507">
              <a:solidFill>
                <a:schemeClr val="lt1"/>
              </a:solidFill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835754" y="1965625"/>
            <a:ext cx="16611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57">
                <a:solidFill>
                  <a:schemeClr val="lt1"/>
                </a:solidFill>
              </a:rPr>
              <a:t>7 &gt; 2</a:t>
            </a:r>
            <a:endParaRPr sz="2257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57">
                <a:solidFill>
                  <a:schemeClr val="lt1"/>
                </a:solidFill>
              </a:rPr>
              <a:t>Valor: True</a:t>
            </a:r>
            <a:endParaRPr sz="2257">
              <a:solidFill>
                <a:schemeClr val="lt1"/>
              </a:solidFill>
            </a:endParaRPr>
          </a:p>
        </p:txBody>
      </p:sp>
      <p:sp>
        <p:nvSpPr>
          <p:cNvPr id="155" name="Google Shape;155;p20"/>
          <p:cNvSpPr txBox="1"/>
          <p:nvPr/>
        </p:nvSpPr>
        <p:spPr>
          <a:xfrm flipH="1">
            <a:off x="366030" y="2947054"/>
            <a:ext cx="15426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425" lIns="106425" spcFirstLastPara="1" rIns="106425" wrap="square" tIns="106425">
            <a:noAutofit/>
          </a:bodyPr>
          <a:lstStyle/>
          <a:p>
            <a:pPr indent="-413934" lvl="0" marL="53220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8"/>
              <a:buChar char="●"/>
            </a:pPr>
            <a:r>
              <a:rPr lang="pt-BR" sz="2328">
                <a:solidFill>
                  <a:schemeClr val="lt1"/>
                </a:solidFill>
              </a:rPr>
              <a:t>Ex 2</a:t>
            </a:r>
            <a:endParaRPr sz="2328">
              <a:solidFill>
                <a:schemeClr val="lt1"/>
              </a:solidFill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804855" y="3507500"/>
            <a:ext cx="16995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425" lIns="106425" spcFirstLastPara="1" rIns="106425" wrap="square" tIns="106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95">
                <a:solidFill>
                  <a:schemeClr val="lt1"/>
                </a:solidFill>
              </a:rPr>
              <a:t>7 &gt; 7</a:t>
            </a:r>
            <a:endParaRPr sz="209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95">
                <a:solidFill>
                  <a:schemeClr val="lt1"/>
                </a:solidFill>
              </a:rPr>
              <a:t>Valor: False</a:t>
            </a:r>
            <a:endParaRPr sz="2095">
              <a:solidFill>
                <a:schemeClr val="lt1"/>
              </a:solidFill>
            </a:endParaRPr>
          </a:p>
        </p:txBody>
      </p:sp>
      <p:sp>
        <p:nvSpPr>
          <p:cNvPr id="157" name="Google Shape;157;p20"/>
          <p:cNvSpPr txBox="1"/>
          <p:nvPr/>
        </p:nvSpPr>
        <p:spPr>
          <a:xfrm flipH="1">
            <a:off x="4029984" y="1439077"/>
            <a:ext cx="15063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925" lIns="103925" spcFirstLastPara="1" rIns="103925" wrap="square" tIns="103925">
            <a:noAutofit/>
          </a:bodyPr>
          <a:lstStyle/>
          <a:p>
            <a:pPr indent="-404189" lvl="0" marL="51967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73"/>
              <a:buChar char="●"/>
            </a:pPr>
            <a:r>
              <a:rPr lang="pt-BR" sz="2273">
                <a:solidFill>
                  <a:schemeClr val="lt1"/>
                </a:solidFill>
              </a:rPr>
              <a:t>Ex 3</a:t>
            </a:r>
            <a:endParaRPr sz="2273">
              <a:solidFill>
                <a:schemeClr val="lt1"/>
              </a:solidFill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4458496" y="1986340"/>
            <a:ext cx="15063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925" lIns="103925" spcFirstLastPara="1" rIns="103925" wrap="square" tIns="103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46">
                <a:solidFill>
                  <a:schemeClr val="lt1"/>
                </a:solidFill>
              </a:rPr>
              <a:t>1&lt;=2</a:t>
            </a:r>
            <a:endParaRPr sz="204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46">
                <a:solidFill>
                  <a:schemeClr val="lt1"/>
                </a:solidFill>
              </a:rPr>
              <a:t>Valor: True</a:t>
            </a:r>
            <a:endParaRPr sz="2046">
              <a:solidFill>
                <a:schemeClr val="lt1"/>
              </a:solidFill>
            </a:endParaRPr>
          </a:p>
        </p:txBody>
      </p:sp>
      <p:sp>
        <p:nvSpPr>
          <p:cNvPr id="159" name="Google Shape;159;p20"/>
          <p:cNvSpPr txBox="1"/>
          <p:nvPr/>
        </p:nvSpPr>
        <p:spPr>
          <a:xfrm flipH="1">
            <a:off x="4027762" y="2891725"/>
            <a:ext cx="15519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075" lIns="107075" spcFirstLastPara="1" rIns="107075" wrap="square" tIns="107075">
            <a:noAutofit/>
          </a:bodyPr>
          <a:lstStyle/>
          <a:p>
            <a:pPr indent="-416485" lvl="0" marL="53548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42"/>
              <a:buChar char="●"/>
            </a:pPr>
            <a:r>
              <a:rPr lang="pt-BR" sz="2342">
                <a:solidFill>
                  <a:schemeClr val="lt1"/>
                </a:solidFill>
              </a:rPr>
              <a:t>Ex 4</a:t>
            </a:r>
            <a:endParaRPr sz="2342">
              <a:solidFill>
                <a:schemeClr val="lt1"/>
              </a:solidFill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4469084" y="3455637"/>
            <a:ext cx="15519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075" lIns="107075" spcFirstLastPara="1" rIns="107075" wrap="square" tIns="107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8">
                <a:solidFill>
                  <a:schemeClr val="lt1"/>
                </a:solidFill>
              </a:rPr>
              <a:t>3</a:t>
            </a:r>
            <a:r>
              <a:rPr lang="pt-BR" sz="2108">
                <a:solidFill>
                  <a:schemeClr val="lt1"/>
                </a:solidFill>
              </a:rPr>
              <a:t> != 2</a:t>
            </a:r>
            <a:endParaRPr sz="2108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8">
                <a:solidFill>
                  <a:schemeClr val="lt1"/>
                </a:solidFill>
              </a:rPr>
              <a:t>Valor: True</a:t>
            </a:r>
            <a:endParaRPr sz="2108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311700" y="1492075"/>
            <a:ext cx="7881900" cy="8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utilizados para verificar duas ou mais condições no código de forma simultânea.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311700" y="2525275"/>
            <a:ext cx="85206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O Python possui três operadores lógicos principais:</a:t>
            </a:r>
            <a:endParaRPr b="1" sz="2000">
              <a:solidFill>
                <a:srgbClr val="FFFFFF"/>
              </a:solidFill>
            </a:endParaRPr>
          </a:p>
          <a:p>
            <a:pPr indent="0" lvl="0" marL="450000" rtl="0" algn="ctr"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4300">
                <a:solidFill>
                  <a:srgbClr val="FFFFFF"/>
                </a:solidFill>
              </a:rPr>
              <a:t>AND  -  OR  -  NOT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311700" y="1402363"/>
            <a:ext cx="78819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Ambas as condições devem ser verdadeiras.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311700" y="866675"/>
            <a:ext cx="839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 flipH="1">
            <a:off x="311696" y="1855126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7">
                <a:solidFill>
                  <a:schemeClr val="lt1"/>
                </a:solidFill>
              </a:rPr>
              <a:t>Ex:</a:t>
            </a:r>
            <a:endParaRPr sz="2507">
              <a:solidFill>
                <a:schemeClr val="lt1"/>
              </a:solidFill>
            </a:endParaRPr>
          </a:p>
        </p:txBody>
      </p:sp>
      <p:pic>
        <p:nvPicPr>
          <p:cNvPr id="177" name="Google Shape;177;p22" title="sal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419" y="2487248"/>
            <a:ext cx="989711" cy="989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 title="educ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6148" y="2459610"/>
            <a:ext cx="962499" cy="96251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>
            <p:ph idx="1" type="body"/>
          </p:nvPr>
        </p:nvSpPr>
        <p:spPr>
          <a:xfrm>
            <a:off x="311700" y="3598430"/>
            <a:ext cx="27171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1) </a:t>
            </a: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Vocês recebem salário.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p22"/>
          <p:cNvSpPr txBox="1"/>
          <p:nvPr>
            <p:ph idx="1" type="body"/>
          </p:nvPr>
        </p:nvSpPr>
        <p:spPr>
          <a:xfrm>
            <a:off x="3801315" y="3598430"/>
            <a:ext cx="28809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2) </a:t>
            </a: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Vocês são estudantes.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976786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182" name="Google Shape;182;p22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28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4374333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184" name="Google Shape;184;p22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775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2979281" y="3571203"/>
            <a:ext cx="747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958" u="sng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</a:t>
            </a:r>
            <a:endParaRPr sz="1958" u="sng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86" name="Google Shape;186;p22" title="r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0600" y="2919125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6856125" y="2674688"/>
            <a:ext cx="205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Valor final: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False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311700" y="1424791"/>
            <a:ext cx="78819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verdade quando pelo menos uma sentença é verdade.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311700" y="889091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95" name="Google Shape;195;p23" title="braz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423" y="2409275"/>
            <a:ext cx="1163913" cy="1163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 title="rain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6476" y="2467889"/>
            <a:ext cx="1046700" cy="104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/>
          <p:nvPr/>
        </p:nvSpPr>
        <p:spPr>
          <a:xfrm flipH="1">
            <a:off x="311696" y="1855126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7">
                <a:solidFill>
                  <a:schemeClr val="lt1"/>
                </a:solidFill>
              </a:rPr>
              <a:t>Ex:</a:t>
            </a:r>
            <a:endParaRPr sz="2507">
              <a:solidFill>
                <a:schemeClr val="lt1"/>
              </a:solidFill>
            </a:endParaRPr>
          </a:p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311700" y="3598430"/>
            <a:ext cx="27171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1) Somos brasileiros.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3801315" y="3598430"/>
            <a:ext cx="28809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2) Está chovendo.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976786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201" name="Google Shape;201;p23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28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4374333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203" name="Google Shape;203;p23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775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2822281" y="3598428"/>
            <a:ext cx="747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958" u="sng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</a:t>
            </a:r>
            <a:endParaRPr sz="1958" u="sng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05" name="Google Shape;205;p23" title="r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0600" y="2919125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6856125" y="2674688"/>
            <a:ext cx="205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Valor final: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True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311700" y="1424791"/>
            <a:ext cx="78819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usado para inverter o valor da sentença.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311700" y="889091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 flipH="1">
            <a:off x="311696" y="1855126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7">
                <a:solidFill>
                  <a:schemeClr val="lt1"/>
                </a:solidFill>
              </a:rPr>
              <a:t>Ex:</a:t>
            </a:r>
            <a:endParaRPr sz="2507">
              <a:solidFill>
                <a:schemeClr val="lt1"/>
              </a:solidFill>
            </a:endParaRPr>
          </a:p>
        </p:txBody>
      </p:sp>
      <p:sp>
        <p:nvSpPr>
          <p:cNvPr id="215" name="Google Shape;215;p24"/>
          <p:cNvSpPr txBox="1"/>
          <p:nvPr>
            <p:ph idx="1" type="body"/>
          </p:nvPr>
        </p:nvSpPr>
        <p:spPr>
          <a:xfrm>
            <a:off x="1104156" y="3476950"/>
            <a:ext cx="2260200" cy="593400"/>
          </a:xfrm>
          <a:prstGeom prst="rect">
            <a:avLst/>
          </a:prstGeom>
        </p:spPr>
        <p:txBody>
          <a:bodyPr anchorCtr="0" anchor="t" bIns="112400" lIns="112400" spcFirstLastPara="1" rIns="112400" wrap="square" tIns="11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75"/>
              </a:spcAft>
              <a:buNone/>
            </a:pPr>
            <a:r>
              <a:rPr lang="pt-BR" sz="209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céu é azul</a:t>
            </a:r>
            <a:endParaRPr sz="209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2022804" y="3984276"/>
            <a:ext cx="16458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400" lIns="112400" spcFirstLastPara="1" rIns="112400" wrap="square" tIns="1124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2"/>
              <a:buFont typeface="Arial"/>
              <a:buNone/>
            </a:pPr>
            <a:r>
              <a:rPr lang="pt-BR" sz="2705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2705">
              <a:solidFill>
                <a:srgbClr val="00FFFF"/>
              </a:solidFill>
            </a:endParaRPr>
          </a:p>
        </p:txBody>
      </p:sp>
      <p:pic>
        <p:nvPicPr>
          <p:cNvPr id="217" name="Google Shape;217;p24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697" y="3984275"/>
            <a:ext cx="593473" cy="59347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>
            <a:off x="356847" y="3506521"/>
            <a:ext cx="747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958" u="sng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</a:t>
            </a:r>
            <a:endParaRPr sz="1958" u="sng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19" name="Google Shape;219;p24" title="r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7562" y="3494725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6411900" y="2430250"/>
            <a:ext cx="205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Valor final: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False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21" name="Google Shape;221;p24" title="cloud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1858" y="2216025"/>
            <a:ext cx="1191599" cy="11915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>
            <p:ph idx="1" type="body"/>
          </p:nvPr>
        </p:nvSpPr>
        <p:spPr>
          <a:xfrm>
            <a:off x="3745400" y="3476950"/>
            <a:ext cx="2526900" cy="593400"/>
          </a:xfrm>
          <a:prstGeom prst="rect">
            <a:avLst/>
          </a:prstGeom>
        </p:spPr>
        <p:txBody>
          <a:bodyPr anchorCtr="0" anchor="t" bIns="112400" lIns="112400" spcFirstLastPara="1" rIns="112400" wrap="square" tIns="11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75"/>
              </a:spcAft>
              <a:buNone/>
            </a:pPr>
            <a:r>
              <a:rPr lang="pt-BR" sz="209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céu não é azul</a:t>
            </a:r>
            <a:endParaRPr sz="209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p24" title="r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550" y="2562563"/>
            <a:ext cx="782075" cy="78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Tabela geral 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30" name="Google Shape;230;p25" title="truth_table_or.png"/>
          <p:cNvPicPr preferRelativeResize="0"/>
          <p:nvPr/>
        </p:nvPicPr>
        <p:blipFill rotWithShape="1">
          <a:blip r:embed="rId3">
            <a:alphaModFix/>
          </a:blip>
          <a:srcRect b="29273" l="8347" r="8104" t="23183"/>
          <a:stretch/>
        </p:blipFill>
        <p:spPr>
          <a:xfrm>
            <a:off x="3238525" y="2332397"/>
            <a:ext cx="2592776" cy="147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 title="truth_table_not.png"/>
          <p:cNvPicPr preferRelativeResize="0"/>
          <p:nvPr/>
        </p:nvPicPr>
        <p:blipFill rotWithShape="1">
          <a:blip r:embed="rId4">
            <a:alphaModFix/>
          </a:blip>
          <a:srcRect b="31883" l="4921" r="5610" t="23084"/>
          <a:stretch/>
        </p:blipFill>
        <p:spPr>
          <a:xfrm>
            <a:off x="6318650" y="2332385"/>
            <a:ext cx="2257751" cy="1136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 title="truth_table_and.png"/>
          <p:cNvPicPr preferRelativeResize="0"/>
          <p:nvPr/>
        </p:nvPicPr>
        <p:blipFill rotWithShape="1">
          <a:blip r:embed="rId5">
            <a:alphaModFix/>
          </a:blip>
          <a:srcRect b="30960" l="5402" r="5606" t="21801"/>
          <a:stretch/>
        </p:blipFill>
        <p:spPr>
          <a:xfrm>
            <a:off x="192100" y="2369898"/>
            <a:ext cx="2559076" cy="135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1015938" y="1849700"/>
            <a:ext cx="91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4116288" y="1887200"/>
            <a:ext cx="91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6960063" y="1887200"/>
            <a:ext cx="91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